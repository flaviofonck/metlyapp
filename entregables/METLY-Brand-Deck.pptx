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0033"/>
          </a:solidFill>
          <a:ln/>
        </p:spPr>
      </p:sp>
      <p:sp>
        <p:nvSpPr>
          <p:cNvPr id="3" name="Shape 1"/>
          <p:cNvSpPr/>
          <p:nvPr/>
        </p:nvSpPr>
        <p:spPr>
          <a:xfrm>
            <a:off x="12573000" y="-1905000"/>
            <a:ext cx="7620000" cy="7620000"/>
          </a:xfrm>
          <a:prstGeom prst="ellipse">
            <a:avLst/>
          </a:prstGeom>
          <a:solidFill>
            <a:srgbClr val="00E6F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52500" y="5524500"/>
            <a:ext cx="5715000" cy="5715000"/>
          </a:xfrm>
          <a:prstGeom prst="ellipse">
            <a:avLst/>
          </a:prstGeom>
          <a:solidFill>
            <a:srgbClr val="7B61F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738461"/>
            <a:ext cx="16002000" cy="447675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852761"/>
            <a:ext cx="160248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00E6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BRAND IDENTITY · V1.0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2490936"/>
            <a:ext cx="16482060" cy="3192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500" b="1" spc="-540" kern="0" dirty="0">
                <a:solidFill>
                  <a:srgbClr val="FAF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ciencia de </a:t>
            </a:r>
            <a:pPr algn="l" indent="0" marL="0">
              <a:lnSpc>
                <a:spcPct val="92000"/>
              </a:lnSpc>
              <a:buNone/>
            </a:pPr>
            <a:r>
              <a:rPr lang="en-US" sz="13500" b="1" spc="-54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simple.</a:t>
            </a:r>
            <a:endParaRPr lang="en-US" sz="13500" dirty="0"/>
          </a:p>
        </p:txBody>
      </p:sp>
      <p:sp>
        <p:nvSpPr>
          <p:cNvPr id="8" name="Text 6"/>
          <p:cNvSpPr/>
          <p:nvPr/>
        </p:nvSpPr>
        <p:spPr>
          <a:xfrm>
            <a:off x="1143000" y="6369397"/>
            <a:ext cx="9158335" cy="1798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300" dirty="0">
                <a:solidFill>
                  <a:srgbClr val="ECE7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Identidad de marca para METLY — el sistema integral de gestión que transforma el rigor normativo en una experiencia ágil.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43000" y="9629775"/>
            <a:ext cx="19294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METD CONSULTORES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96486" y="9629775"/>
            <a:ext cx="21611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METLY · BRAND BOOK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681698" y="9629775"/>
            <a:ext cx="5395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7B61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CONCEPTO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62075"/>
            <a:ext cx="1648206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00E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LY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2980432"/>
            <a:ext cx="8325648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4040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 nombre captura la dualidad de la marca: el ancla del rigor técnico y el motor de la agilidad digital.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5190232"/>
            <a:ext cx="7772400" cy="5646241"/>
          </a:xfrm>
          <a:prstGeom prst="roundRect">
            <a:avLst>
              <a:gd name="adj" fmla="val 4049"/>
            </a:avLst>
          </a:prstGeom>
          <a:solidFill>
            <a:srgbClr val="1A0033"/>
          </a:solidFill>
          <a:ln/>
        </p:spPr>
      </p:sp>
      <p:sp>
        <p:nvSpPr>
          <p:cNvPr id="6" name="Text 4"/>
          <p:cNvSpPr/>
          <p:nvPr/>
        </p:nvSpPr>
        <p:spPr>
          <a:xfrm>
            <a:off x="1752600" y="5799832"/>
            <a:ext cx="67497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A594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EL ANCLA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52600" y="6247507"/>
            <a:ext cx="6749796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0" b="1" spc="-720" kern="0" dirty="0">
                <a:solidFill>
                  <a:srgbClr val="FAF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</a:t>
            </a:r>
            <a:endParaRPr lang="en-US" sz="18000" dirty="0"/>
          </a:p>
        </p:txBody>
      </p:sp>
      <p:sp>
        <p:nvSpPr>
          <p:cNvPr id="8" name="Text 6"/>
          <p:cNvSpPr/>
          <p:nvPr/>
        </p:nvSpPr>
        <p:spPr>
          <a:xfrm>
            <a:off x="1752600" y="8800207"/>
            <a:ext cx="674979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ECE7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Medicina · Metodología · Métricas. Seguridad, respaldo médico, precisión heredada de METD Consultores.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5190232"/>
            <a:ext cx="7772400" cy="5646241"/>
          </a:xfrm>
          <a:prstGeom prst="roundRect">
            <a:avLst>
              <a:gd name="adj" fmla="val 4049"/>
            </a:avLst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9982200" y="5799832"/>
            <a:ext cx="67497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FFFFFF">
                    <a:alpha val="85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EL MOTOR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982200" y="6247507"/>
            <a:ext cx="6749796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0" b="1" spc="-72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LY</a:t>
            </a:r>
            <a:endParaRPr lang="en-US" sz="18000" dirty="0"/>
          </a:p>
        </p:txBody>
      </p:sp>
      <p:sp>
        <p:nvSpPr>
          <p:cNvPr id="12" name="Text 10"/>
          <p:cNvSpPr/>
          <p:nvPr/>
        </p:nvSpPr>
        <p:spPr>
          <a:xfrm>
            <a:off x="9982200" y="8800207"/>
            <a:ext cx="6749796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FFFFFF">
                    <a:alpha val="92000"/>
                  </a:srgbClr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Lightly · Easily · Continuously. Modernidad, automatización, una herramienta que trabaja en tiempo real, 24/7.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9629775"/>
            <a:ext cx="8870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 / 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291792" y="9629775"/>
            <a:ext cx="19294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METLY · CONCEPTO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0033"/>
          </a:solidFill>
          <a:ln/>
        </p:spPr>
      </p:sp>
      <p:sp>
        <p:nvSpPr>
          <p:cNvPr id="3" name="Shape 1"/>
          <p:cNvSpPr/>
          <p:nvPr/>
        </p:nvSpPr>
        <p:spPr>
          <a:xfrm>
            <a:off x="13525500" y="-952500"/>
            <a:ext cx="5715000" cy="5715000"/>
          </a:xfrm>
          <a:prstGeom prst="ellipse">
            <a:avLst/>
          </a:prstGeom>
          <a:solidFill>
            <a:srgbClr val="00E6F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76250" y="6000750"/>
            <a:ext cx="4762500" cy="4762500"/>
          </a:xfrm>
          <a:prstGeom prst="ellipse">
            <a:avLst/>
          </a:prstGeom>
          <a:solidFill>
            <a:srgbClr val="7B61FF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51857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00E6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MANTRA DE MARCA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3399532"/>
            <a:ext cx="15970981" cy="2651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0" b="1" spc="-315" kern="0" dirty="0">
                <a:solidFill>
                  <a:srgbClr val="FAF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"La solidez de la métrica, la agilidad del mañana."</a:t>
            </a:r>
            <a:endParaRPr lang="en-US" sz="10500" dirty="0"/>
          </a:p>
        </p:txBody>
      </p:sp>
      <p:sp>
        <p:nvSpPr>
          <p:cNvPr id="7" name="Text 5"/>
          <p:cNvSpPr/>
          <p:nvPr/>
        </p:nvSpPr>
        <p:spPr>
          <a:xfrm>
            <a:off x="1143000" y="6774954"/>
            <a:ext cx="164820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324" kern="0" dirty="0">
                <a:solidFill>
                  <a:srgbClr val="FAF8FF">
                    <a:alpha val="8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METLY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9629775"/>
            <a:ext cx="8870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FFFFF">
                    <a:alpha val="5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7B61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SISTEMA DE LOGO · DIRECCIÓN RECOMENDADA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62075"/>
            <a:ext cx="1648206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Nodo M.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2980432"/>
            <a:ext cx="8325648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4040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Cuatro nodos conectados forman una M abierta. Red de datos, integración, blindaje estructural — el corazón de METLY pulsa al centro.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5250" y="5905798"/>
            <a:ext cx="10477500" cy="3055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9629775"/>
            <a:ext cx="8870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 / 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755094" y="9629775"/>
            <a:ext cx="14661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LOGO · DIR 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0033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00E6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VARIANTES DEL SISTEMA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1362075"/>
            <a:ext cx="1648206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FAF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Tres direcciones.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3509516"/>
            <a:ext cx="5130701" cy="4953000"/>
          </a:xfrm>
          <a:prstGeom prst="roundRect">
            <a:avLst>
              <a:gd name="adj" fmla="val 3462"/>
            </a:avLst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3966716"/>
            <a:ext cx="4216301" cy="12296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7005191"/>
            <a:ext cx="434279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E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· Nodo M ★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600200" y="7538591"/>
            <a:ext cx="434279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CE7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 de datos. Recomendado.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78501" y="3509516"/>
            <a:ext cx="5130850" cy="4953000"/>
          </a:xfrm>
          <a:prstGeom prst="roundRect">
            <a:avLst>
              <a:gd name="adj" fmla="val 3462"/>
            </a:avLst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701" y="3966716"/>
            <a:ext cx="4216450" cy="10931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35701" y="7043291"/>
            <a:ext cx="434294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 · Cápsula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035701" y="7538591"/>
            <a:ext cx="43429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CE7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Dualidad rigor + agilidad.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2014150" y="3509516"/>
            <a:ext cx="5130850" cy="4953000"/>
          </a:xfrm>
          <a:prstGeom prst="roundRect">
            <a:avLst>
              <a:gd name="adj" fmla="val 3462"/>
            </a:avLst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1350" y="3966716"/>
            <a:ext cx="4216450" cy="11351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471350" y="7043291"/>
            <a:ext cx="434294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AF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 · Monograma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12471350" y="7538591"/>
            <a:ext cx="43429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ECE7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Para favicon / app icon.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143000" y="9629775"/>
            <a:ext cx="8870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7B61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PALETA DE MARCA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62075"/>
            <a:ext cx="1648206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Color.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2980432"/>
            <a:ext cx="8325648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4040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Tres colores que conviven con disciplina. 60% neutros, 30% violeta, 10% cyan.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4504432"/>
            <a:ext cx="5130701" cy="4868168"/>
          </a:xfrm>
          <a:prstGeom prst="roundRect">
            <a:avLst>
              <a:gd name="adj" fmla="val 3522"/>
            </a:avLst>
          </a:prstGeom>
          <a:solidFill>
            <a:srgbClr val="1A0033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4961632"/>
            <a:ext cx="43427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FFFFFF">
                    <a:alpha val="60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PRIMARIO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600200" y="5409307"/>
            <a:ext cx="434279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Midnight Purple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600200" y="8041184"/>
            <a:ext cx="4342790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HEX #1A0033 RGB 26·0·51 PMS 2755 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78501" y="4504432"/>
            <a:ext cx="5130850" cy="4868168"/>
          </a:xfrm>
          <a:prstGeom prst="roundRect">
            <a:avLst>
              <a:gd name="adj" fmla="val 3522"/>
            </a:avLst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7035701" y="4961632"/>
            <a:ext cx="43429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FFFFFF">
                    <a:alpha val="85000"/>
                  </a:srgbClr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ESTRATÉGICO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035701" y="5409307"/>
            <a:ext cx="43429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Electric Violet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035701" y="8041184"/>
            <a:ext cx="43429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HEX #7B61FF RGB 123·97·255 PMS 2725 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014150" y="4504432"/>
            <a:ext cx="5130850" cy="4868168"/>
          </a:xfrm>
          <a:prstGeom prst="roundRect">
            <a:avLst>
              <a:gd name="adj" fmla="val 3522"/>
            </a:avLst>
          </a:prstGeom>
          <a:solidFill>
            <a:srgbClr val="00E6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471350" y="4961632"/>
            <a:ext cx="43429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7B61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TECNOLÓGICO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471350" y="5409307"/>
            <a:ext cx="43429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33" kern="0" dirty="0">
                <a:solidFill>
                  <a:srgbClr val="1A00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Neon Cyan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2471350" y="8041184"/>
            <a:ext cx="4342943" cy="912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350" dirty="0">
                <a:solidFill>
                  <a:srgbClr val="1A0033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HEX #00E6FF RGB 0·230·255 PMS 311 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9629775"/>
            <a:ext cx="8870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 / 10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565761" y="9629775"/>
            <a:ext cx="6554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COLOR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7B61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TIPOGRAFÍA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62075"/>
            <a:ext cx="1648206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Space Grotesk + Geist.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3569643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B61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SPACE GROTESK · DISPLAY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3941118"/>
            <a:ext cx="1648206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0" b="1" spc="-360" kern="0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ciencia de lo simple.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1143000" y="5846118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B61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GEIST · TEXTO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6217593"/>
            <a:ext cx="11864109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600" dirty="0">
                <a:solidFill>
                  <a:srgbClr val="4040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Cumplimiento activo, no estático. METLY revisa la matriz por ti y te avisa antes de cualquier cambio.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143000" y="7954714"/>
            <a:ext cx="1648206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4081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RES-2024-0871 · 99.4% uptime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43000" y="9629775"/>
            <a:ext cx="8870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 /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986671" y="9629775"/>
            <a:ext cx="12345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TIPOGRAFÍA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7B61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COMPAÑERO METLY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62075"/>
            <a:ext cx="1648206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colega digital.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143000" y="2980432"/>
            <a:ext cx="8325648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4040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es una mascota infantil. Forma redondeada, núcleo de luz cyan, presencia confiable.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5037832"/>
            <a:ext cx="5029200" cy="4953000"/>
          </a:xfrm>
          <a:prstGeom prst="roundRect">
            <a:avLst>
              <a:gd name="adj" fmla="val 4615"/>
            </a:avLst>
          </a:prstGeom>
          <a:solidFill>
            <a:srgbClr val="FAF8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5495032"/>
            <a:ext cx="4114800" cy="3238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8478" y="9152632"/>
            <a:ext cx="42382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Saludo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629400" y="5037832"/>
            <a:ext cx="5029200" cy="4953000"/>
          </a:xfrm>
          <a:prstGeom prst="roundRect">
            <a:avLst>
              <a:gd name="adj" fmla="val 4615"/>
            </a:avLst>
          </a:prstGeom>
          <a:solidFill>
            <a:srgbClr val="FAF8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5495032"/>
            <a:ext cx="4114800" cy="3238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24878" y="9152632"/>
            <a:ext cx="42382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Analizando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2115800" y="5037832"/>
            <a:ext cx="5029200" cy="4953000"/>
          </a:xfrm>
          <a:prstGeom prst="roundRect">
            <a:avLst>
              <a:gd name="adj" fmla="val 4615"/>
            </a:avLst>
          </a:prstGeom>
          <a:solidFill>
            <a:srgbClr val="FAF8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0" y="5495032"/>
            <a:ext cx="4114800" cy="3238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511278" y="9152632"/>
            <a:ext cx="423824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Insight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1143000" y="9629775"/>
            <a:ext cx="8870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 / 10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6449973" y="9629775"/>
            <a:ext cx="77122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MASCOT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7B61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VOZ &amp; TONO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62075"/>
            <a:ext cx="16482060" cy="9706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1408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Tú, no usted.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143000" y="2904232"/>
            <a:ext cx="7848600" cy="6468368"/>
          </a:xfrm>
          <a:prstGeom prst="roundRect">
            <a:avLst>
              <a:gd name="adj" fmla="val 2651"/>
            </a:avLst>
          </a:prstGeom>
          <a:solidFill>
            <a:srgbClr val="2EE6A8">
              <a:alpha val="8000"/>
            </a:srgbClr>
          </a:solidFill>
          <a:ln w="19050">
            <a:solidFill>
              <a:srgbClr val="2EE6A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19250" y="3380482"/>
            <a:ext cx="71029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1F9D6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 SÍ DECIMOS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34490" y="3875782"/>
            <a:ext cx="6957060" cy="237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45000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408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"Tu matriz legal está al día."</a:t>
            </a:r>
            <a:endParaRPr lang="en-US" sz="2400" dirty="0"/>
          </a:p>
          <a:p>
            <a:pPr algn="l" marL="213360" indent="-213360">
              <a:lnSpc>
                <a:spcPct val="145000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408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"En tres clics, capturas el incidente."</a:t>
            </a:r>
            <a:endParaRPr lang="en-US" sz="2400" dirty="0"/>
          </a:p>
          <a:p>
            <a:pPr algn="l" marL="213360" indent="-213360">
              <a:lnSpc>
                <a:spcPct val="145000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408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"METLY revisa por ti."</a:t>
            </a:r>
            <a:endParaRPr lang="en-US" sz="2400" dirty="0"/>
          </a:p>
          <a:p>
            <a:pPr algn="l" marL="213360" indent="-213360">
              <a:lnSpc>
                <a:spcPct val="145000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4081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"Hoy 4 de 12 actividades listas. Vas bien."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296400" y="2904232"/>
            <a:ext cx="7848600" cy="6468368"/>
          </a:xfrm>
          <a:prstGeom prst="roundRect">
            <a:avLst>
              <a:gd name="adj" fmla="val 2651"/>
            </a:avLst>
          </a:prstGeom>
          <a:solidFill>
            <a:srgbClr val="FF5C7A">
              <a:alpha val="6000"/>
            </a:srgbClr>
          </a:solidFill>
          <a:ln w="19050">
            <a:solidFill>
              <a:srgbClr val="FF5C7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2650" y="3380482"/>
            <a:ext cx="71029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C63A5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✗ NO DECIMOS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7890" y="3875782"/>
            <a:ext cx="6957060" cy="237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45000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4040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"De conformidad con la Resolución…"</a:t>
            </a:r>
            <a:endParaRPr lang="en-US" sz="2400" dirty="0"/>
          </a:p>
          <a:p>
            <a:pPr algn="l" marL="213360" indent="-213360">
              <a:lnSpc>
                <a:spcPct val="145000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4040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"Sistema de gestión documental para…"</a:t>
            </a:r>
            <a:endParaRPr lang="en-US" sz="2400" dirty="0"/>
          </a:p>
          <a:p>
            <a:pPr algn="l" marL="213360" indent="-213360">
              <a:lnSpc>
                <a:spcPct val="145000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4040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"Si no lo hace, podría ser sancionado."</a:t>
            </a:r>
            <a:endParaRPr lang="en-US" sz="2400" dirty="0"/>
          </a:p>
          <a:p>
            <a:pPr algn="l" marL="213360" indent="-213360">
              <a:lnSpc>
                <a:spcPct val="145000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40404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"Sírvase diligenciar el formulario."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9629775"/>
            <a:ext cx="8870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 / 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797486" y="9629775"/>
            <a:ext cx="4237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VOZ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A0033"/>
          </a:solidFill>
          <a:ln/>
        </p:spPr>
      </p:sp>
      <p:sp>
        <p:nvSpPr>
          <p:cNvPr id="3" name="Shape 1"/>
          <p:cNvSpPr/>
          <p:nvPr/>
        </p:nvSpPr>
        <p:spPr>
          <a:xfrm>
            <a:off x="13049250" y="5048250"/>
            <a:ext cx="6667500" cy="6667500"/>
          </a:xfrm>
          <a:prstGeom prst="ellipse">
            <a:avLst/>
          </a:prstGeom>
          <a:solidFill>
            <a:srgbClr val="00E6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52500" y="-952500"/>
            <a:ext cx="4762500" cy="4762500"/>
          </a:xfrm>
          <a:prstGeom prst="ellipse">
            <a:avLst/>
          </a:prstGeom>
          <a:solidFill>
            <a:srgbClr val="7B61FF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49227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97" kern="0" dirty="0">
                <a:solidFill>
                  <a:srgbClr val="00E6FF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UNA ÚLTIMA COSA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2596902"/>
            <a:ext cx="14602075" cy="2835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FAF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marca es una promesa.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gente al final de la línea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216" kern="0" dirty="0">
                <a:solidFill>
                  <a:srgbClr val="FAF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 quien la cobra.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6156573"/>
            <a:ext cx="8325648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000" dirty="0">
                <a:solidFill>
                  <a:srgbClr val="ECE7F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Cada decisión debe responder: ¿esto le hace la vida más simple a alguien que cuida la salud de otros? Si la respuesta es sí, vamos.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9629775"/>
            <a:ext cx="8870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 /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4373" y="9629775"/>
            <a:ext cx="36983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BFB8D1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METLY · LA CIENCIA DE LO SIMPLE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2026-04-25T23:04:23Z</dcterms:created>
  <dcterms:modified xsi:type="dcterms:W3CDTF">2026-04-25T23:04:23Z</dcterms:modified>
</cp:coreProperties>
</file>